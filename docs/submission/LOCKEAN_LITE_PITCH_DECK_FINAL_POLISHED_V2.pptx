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pic>
        <p:nvPicPr>
          <p:cNvPr id="4" name="Image 0" descr="/mnt/data/lockean_cover_16x9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failure mode is concentrated authority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5"/>
                </a:solidFill>
              </a:rPr>
              <a:t>Most agents compete to be better traders. Lockean asks who is allowed to turn judgment into broker action.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capable AI should be allowed to think.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should not be allowed to become its own authority.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31520" y="2953512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0F1B27"/>
          </a:solidFill>
          <a:ln w="10160">
            <a:solidFill>
              <a:srgbClr val="234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821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B7B"/>
                </a:solidFill>
              </a:rPr>
              <a:t>Without Lockean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" y="3703320"/>
            <a:ext cx="25603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B"/>
                </a:solidFill>
              </a:rPr>
              <a:t>AI idea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8FB"/>
                </a:solidFill>
              </a:rPr>
              <a:t>→ risk check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8FB"/>
                </a:solidFill>
              </a:rPr>
              <a:t>→ broker order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4983480"/>
            <a:ext cx="2560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0B4C5"/>
                </a:solidFill>
              </a:rPr>
              <a:t>Decision, permission, and action collapse into one dangerous path.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5968" y="2953512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F1B27"/>
          </a:solidFill>
          <a:ln w="10160">
            <a:solidFill>
              <a:srgbClr val="2344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3182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4E0A4"/>
                </a:solidFill>
              </a:rPr>
              <a:t>With Lockean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703320"/>
            <a:ext cx="30175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B"/>
                </a:solidFill>
              </a:rPr>
              <a:t>AI judgment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4F8FB"/>
                </a:solidFill>
              </a:rPr>
              <a:t>→ independent authority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4F8FB"/>
                </a:solidFill>
              </a:rPr>
              <a:t>→ verified broker access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4983480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0B4C5"/>
                </a:solidFill>
              </a:rPr>
              <a:t>Permission becomes a separate artifact, not a Boolean hidden inside execution code.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458200" y="1444752"/>
            <a:ext cx="2880360" cy="4297680"/>
          </a:xfrm>
          <a:prstGeom prst="roundRect">
            <a:avLst>
              <a:gd name="adj" fmla="val 2540"/>
            </a:avLst>
          </a:prstGeom>
          <a:solidFill>
            <a:srgbClr val="122434"/>
          </a:solidFill>
          <a:ln w="10160">
            <a:solidFill>
              <a:srgbClr val="2344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96528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7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796528" y="2404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AI → broker shortcut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796528" y="30906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7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796528" y="3621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self-authorization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96528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4E0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796528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proposal-bound receipt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B4C5"/>
                </a:solidFill>
              </a:rPr>
              <a:t>LOCKEAN LITE · ALPACA AI TRADING AGENTS HACKATHON</a:t>
            </a:r>
            <a:endParaRPr lang="en-US" sz="580" dirty="0"/>
          </a:p>
        </p:txBody>
      </p:sp>
      <p:sp>
        <p:nvSpPr>
          <p:cNvPr id="23" name="Text 21"/>
          <p:cNvSpPr/>
          <p:nvPr/>
        </p:nvSpPr>
        <p:spPr>
          <a:xfrm>
            <a:off x="7498080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9E1DC"/>
                </a:solidFill>
              </a:rPr>
              <a:t>Autonomous judgment. Independent authority.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Separation of powers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5"/>
                </a:solidFill>
              </a:rPr>
              <a:t>Each component owns one responsibility and lacks the authority to complete the full action alone.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834640" y="2633472"/>
            <a:ext cx="621792" cy="0"/>
          </a:xfrm>
          <a:prstGeom prst="line">
            <a:avLst/>
          </a:prstGeom>
          <a:noFill/>
          <a:ln w="25400">
            <a:solidFill>
              <a:srgbClr val="74E0A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9280" y="2633472"/>
            <a:ext cx="621792" cy="0"/>
          </a:xfrm>
          <a:prstGeom prst="line">
            <a:avLst/>
          </a:prstGeom>
          <a:noFill/>
          <a:ln w="25400">
            <a:solidFill>
              <a:srgbClr val="69E1D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2633472"/>
            <a:ext cx="621792" cy="0"/>
          </a:xfrm>
          <a:prstGeom prst="line">
            <a:avLst/>
          </a:prstGeom>
          <a:noFill/>
          <a:ln w="25400">
            <a:solidFill>
              <a:srgbClr val="B17C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" y="1600200"/>
            <a:ext cx="2240280" cy="2057400"/>
          </a:xfrm>
          <a:prstGeom prst="roundRect">
            <a:avLst>
              <a:gd name="adj" fmla="val 3556"/>
            </a:avLst>
          </a:prstGeom>
          <a:solidFill>
            <a:srgbClr val="0F1B27"/>
          </a:solidFill>
          <a:ln w="15240">
            <a:solidFill>
              <a:srgbClr val="43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74520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A8FF"/>
                </a:solidFill>
              </a:rPr>
              <a:t>AI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248716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B"/>
                </a:solidFill>
              </a:rPr>
              <a:t>Judgment only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1600200"/>
            <a:ext cx="2240280" cy="2057400"/>
          </a:xfrm>
          <a:prstGeom prst="roundRect">
            <a:avLst>
              <a:gd name="adj" fmla="val 3556"/>
            </a:avLst>
          </a:prstGeom>
          <a:solidFill>
            <a:srgbClr val="0F1B27"/>
          </a:solidFill>
          <a:ln w="15240">
            <a:solidFill>
              <a:srgbClr val="74E0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1874520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E0A4"/>
                </a:solidFill>
              </a:rPr>
              <a:t>LOCKEAN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4E0A4"/>
                </a:solidFill>
              </a:rPr>
              <a:t>AUTHORITY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76472" y="248716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B"/>
                </a:solidFill>
              </a:rPr>
              <a:t>Authorization only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46520" y="1600200"/>
            <a:ext cx="2240280" cy="2057400"/>
          </a:xfrm>
          <a:prstGeom prst="roundRect">
            <a:avLst>
              <a:gd name="adj" fmla="val 3556"/>
            </a:avLst>
          </a:prstGeom>
          <a:solidFill>
            <a:srgbClr val="0F1B27"/>
          </a:solidFill>
          <a:ln w="15240">
            <a:solidFill>
              <a:srgbClr val="69E1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874520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9E1DC"/>
                </a:solidFill>
              </a:rPr>
              <a:t>EXECUTION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9E1DC"/>
                </a:solidFill>
              </a:rPr>
              <a:t>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11112" y="248716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B"/>
                </a:solidFill>
              </a:rPr>
              <a:t>Broker access only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281160" y="1600200"/>
            <a:ext cx="2240280" cy="2057400"/>
          </a:xfrm>
          <a:prstGeom prst="roundRect">
            <a:avLst>
              <a:gd name="adj" fmla="val 3556"/>
            </a:avLst>
          </a:prstGeom>
          <a:solidFill>
            <a:srgbClr val="0F1B27"/>
          </a:solidFill>
          <a:ln w="15240">
            <a:solidFill>
              <a:srgbClr val="B17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1874520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7CFF"/>
                </a:solidFill>
              </a:rPr>
              <a:t>ALPACA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17CFF"/>
                </a:solidFill>
              </a:rPr>
              <a:t>PAPER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45752" y="248716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B"/>
                </a:solidFill>
              </a:rPr>
              <a:t>Broker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69080" y="397764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2070B"/>
          </a:solidFill>
          <a:ln w="13970">
            <a:solidFill>
              <a:srgbClr val="FFD3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416052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36F"/>
                </a:solidFill>
              </a:rPr>
              <a:t>SHORT-LIVED AUTHORIZATION RECEIPT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440740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8FB"/>
                </a:solidFill>
              </a:rPr>
              <a:t>Exact proposal fingerprint · cryptographic signature · expiry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60120" y="523036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</a:rPr>
              <a:t>NO COMPONENT CAN CREATE, AUTHORIZE, AND EXECUTE A TRADE ALONE.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B4C5"/>
                </a:solidFill>
              </a:rPr>
              <a:t>LOCKEAN LITE · ALPACA AI TRADING AGENTS HACKATHON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7498080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9E1DC"/>
                </a:solidFill>
              </a:rPr>
              <a:t>Autonomous judgment. Independent authority.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read-only agent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5"/>
                </a:solidFill>
              </a:rPr>
              <a:t>Real Alpaca + Cboe boundaries reached the AI, but no authority or broker path was invoked.</a:t>
            </a:r>
            <a:endParaRPr lang="en-US" sz="850" dirty="0"/>
          </a:p>
        </p:txBody>
      </p:sp>
      <p:pic>
        <p:nvPicPr>
          <p:cNvPr id="6" name="Image 0" descr="/mnt/data/processed_evidence/04_live_agent_no_trade_crop.png">    </p:cNvPr>
          <p:cNvPicPr>
            <a:picLocks noChangeAspect="1"/>
          </p:cNvPicPr>
          <p:nvPr/>
        </p:nvPicPr>
        <p:blipFill>
          <a:blip r:embed="rId1"/>
          <a:srcRect l="14691" r="14691" t="0" b="0"/>
          <a:stretch/>
        </p:blipFill>
        <p:spPr>
          <a:xfrm>
            <a:off x="502920" y="1143000"/>
            <a:ext cx="65379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88352" y="1143000"/>
            <a:ext cx="4160520" cy="4526280"/>
          </a:xfrm>
          <a:prstGeom prst="roundRect">
            <a:avLst>
              <a:gd name="adj" fmla="val 1758"/>
            </a:avLst>
          </a:prstGeom>
          <a:solidFill>
            <a:srgbClr val="122434"/>
          </a:solidFill>
          <a:ln w="10160">
            <a:solidFill>
              <a:srgbClr val="2344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3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72668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real SPY option candidates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2668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69E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NO_TRADE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726680" y="3273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autonomous AI decision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726680" y="3886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4E0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726680" y="4416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Authority, Gateway, Broker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726680" y="5074920"/>
            <a:ext cx="3337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0B4C5"/>
                </a:solidFill>
              </a:rPr>
              <a:t>Breakout and volatility failed, but those signals were context delivered to the agent—not a hidden pre-AI veto.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726680" y="57150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2070B"/>
          </a:solidFill>
          <a:ln w="10160">
            <a:solidFill>
              <a:srgbClr val="43A8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57881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3A8FF"/>
                </a:solidFill>
              </a:rPr>
              <a:t>PROOF 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8549640" y="5788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4F8FB"/>
                </a:solidFill>
              </a:rPr>
              <a:t>Autonomous abstention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B4C5"/>
                </a:solidFill>
              </a:rPr>
              <a:t>LOCKEAN LITE · ALPACA AI TRADING AGENTS HACKATHON</a:t>
            </a: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7498080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9E1DC"/>
                </a:solidFill>
              </a:rPr>
              <a:t>Autonomous judgment. Independent authority.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intent is not trusted risk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5"/>
                </a:solidFill>
              </a:rPr>
              <a:t>Fresh Alpaca quotes can invalidate a trade even after the AI proposes it.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1704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7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$164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4672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B"/>
                </a:solidFill>
              </a:rPr>
              <a:t>trusted max loss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99232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A0B4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75888" y="1170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74E0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$150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794760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B"/>
                </a:solidFill>
              </a:rPr>
              <a:t>policy limit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7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REJECTED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86384" y="3310128"/>
            <a:ext cx="5074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0B4C5"/>
                </a:solidFill>
              </a:rPr>
              <a:t>The system did not preserve an earlier favorable estimate to force a demo. Trusted pricing controlled the authority decision.</a:t>
            </a:r>
            <a:endParaRPr lang="en-US" sz="1100" dirty="0"/>
          </a:p>
        </p:txBody>
      </p:sp>
      <p:pic>
        <p:nvPicPr>
          <p:cNvPr id="13" name="Image 0" descr="/mnt/data/processed_evidence/05_risk_drift_rejection_crop.png">    </p:cNvPr>
          <p:cNvPicPr>
            <a:picLocks noChangeAspect="1"/>
          </p:cNvPicPr>
          <p:nvPr/>
        </p:nvPicPr>
        <p:blipFill>
          <a:blip r:embed="rId1"/>
          <a:srcRect l="21407" r="21407" t="0" b="0"/>
          <a:stretch/>
        </p:blipFill>
        <p:spPr>
          <a:xfrm>
            <a:off x="6172200" y="1078992"/>
            <a:ext cx="5394960" cy="46177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86384" y="5010912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02070B"/>
          </a:solidFill>
          <a:ln w="10160">
            <a:solidFill>
              <a:srgbClr val="FF7B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50840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7B7B"/>
                </a:solidFill>
              </a:rPr>
              <a:t>PROOF 2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1609344" y="5084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4F8FB"/>
                </a:solidFill>
              </a:rPr>
              <a:t>Risk drift rejection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B4C5"/>
                </a:solidFill>
              </a:rPr>
              <a:t>LOCKEAN LITE · ALPACA AI TRADING AGENTS HACKATHON</a:t>
            </a: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7498080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9E1DC"/>
                </a:solidFill>
              </a:rPr>
              <a:t>Autonomous judgment. Independent authority.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Authorization is a capability, not execution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5"/>
                </a:solidFill>
              </a:rPr>
              <a:t>Lockean may authorize an exact proposal while the broker still remains untouched.</a:t>
            </a:r>
            <a:endParaRPr lang="en-US" sz="850" dirty="0"/>
          </a:p>
        </p:txBody>
      </p:sp>
      <p:pic>
        <p:nvPicPr>
          <p:cNvPr id="6" name="Image 0" descr="/mnt/data/processed_evidence/06_authorization_receipt_crop.png">    </p:cNvPr>
          <p:cNvPicPr>
            <a:picLocks noChangeAspect="1"/>
          </p:cNvPicPr>
          <p:nvPr/>
        </p:nvPicPr>
        <p:blipFill>
          <a:blip r:embed="rId1"/>
          <a:srcRect l="13629" r="13629" t="0" b="0"/>
          <a:stretch/>
        </p:blipFill>
        <p:spPr>
          <a:xfrm>
            <a:off x="502920" y="1042416"/>
            <a:ext cx="635508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05472" y="1115568"/>
            <a:ext cx="4343400" cy="4663440"/>
          </a:xfrm>
          <a:prstGeom prst="roundRect">
            <a:avLst>
              <a:gd name="adj" fmla="val 1684"/>
            </a:avLst>
          </a:prstGeom>
          <a:solidFill>
            <a:srgbClr val="122434"/>
          </a:solidFill>
          <a:ln w="10160">
            <a:solidFill>
              <a:srgbClr val="2344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43800" y="15270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4E0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AUTHORIZED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543800" y="2057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Lockean Authority result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43800" y="2651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D3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TRUE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543800" y="3182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receipt matches proposal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543800" y="37764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7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543800" y="43068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broker order submitted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543800" y="5010912"/>
            <a:ext cx="3429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0B4C5"/>
                </a:solidFill>
              </a:rPr>
              <a:t>The receipt is short-lived, signed, and bound to the exact proposal fingerprint. Authorization still is not execution.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564184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2070B"/>
          </a:solidFill>
          <a:ln w="10160">
            <a:solidFill>
              <a:srgbClr val="FFD3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57150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D36F"/>
                </a:solidFill>
              </a:rPr>
              <a:t>PROOF 3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8366760" y="57150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4F8FB"/>
                </a:solidFill>
              </a:rPr>
              <a:t>Proposal-bound receipt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B4C5"/>
                </a:solidFill>
              </a:rPr>
              <a:t>LOCKEAN LITE · ALPACA AI TRADING AGENTS HACKATHON</a:t>
            </a: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7498080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9E1DC"/>
                </a:solidFill>
              </a:rPr>
              <a:t>Autonomous judgment. Independent authority.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requires independent verification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5"/>
                </a:solidFill>
              </a:rPr>
              <a:t>The Gateway can reach Alpaca only after verifying exact proposal-bound authority.</a:t>
            </a:r>
            <a:endParaRPr lang="en-US" sz="850" dirty="0"/>
          </a:p>
        </p:txBody>
      </p:sp>
      <p:pic>
        <p:nvPicPr>
          <p:cNvPr id="6" name="Image 0" descr="/mnt/data/processed_evidence/07_paper_execution_proof_crop.png">    </p:cNvPr>
          <p:cNvPicPr>
            <a:picLocks noChangeAspect="1"/>
          </p:cNvPicPr>
          <p:nvPr/>
        </p:nvPicPr>
        <p:blipFill>
          <a:blip r:embed="rId1"/>
          <a:srcRect l="9749" r="9749" t="0" b="0"/>
          <a:stretch/>
        </p:blipFill>
        <p:spPr>
          <a:xfrm>
            <a:off x="502920" y="1060704"/>
            <a:ext cx="617220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59168" y="1078992"/>
            <a:ext cx="4480560" cy="4681728"/>
          </a:xfrm>
          <a:prstGeom prst="roundRect">
            <a:avLst>
              <a:gd name="adj" fmla="val 1633"/>
            </a:avLst>
          </a:prstGeom>
          <a:solidFill>
            <a:srgbClr val="122434"/>
          </a:solidFill>
          <a:ln w="10160">
            <a:solidFill>
              <a:srgbClr val="2344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6092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69E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execution_authority_valid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60920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gateway verification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60920" y="2944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4E0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6092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broker order submitted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6092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3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$89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360920" y="4599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trusted max loss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360920" y="5157216"/>
            <a:ext cx="3383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0B4C5"/>
                </a:solidFill>
              </a:rPr>
              <a:t>The Gateway does not trust the AI or itself. It trusts only a valid receipt for the exact proposal.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7360920" y="5650992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070B"/>
          </a:solidFill>
          <a:ln w="10160">
            <a:solidFill>
              <a:srgbClr val="69E1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572414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9E1DC"/>
                </a:solidFill>
              </a:rPr>
              <a:t>PROOF 4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8183880" y="5724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4F8FB"/>
                </a:solidFill>
              </a:rPr>
              <a:t>Gateway verified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B4C5"/>
                </a:solidFill>
              </a:rPr>
              <a:t>LOCKEAN LITE · ALPACA AI TRADING AGENTS HACKATHON</a:t>
            </a: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7498080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9E1DC"/>
                </a:solidFill>
              </a:rPr>
              <a:t>Autonomous judgment. Independent authority.</a:t>
            </a:r>
            <a:endParaRPr lang="en-US" sz="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Broker and test evidence close the loop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5"/>
                </a:solidFill>
              </a:rPr>
              <a:t>A real Alpaca paper MLEG order was filled, and the final suite passed.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22434"/>
          </a:solidFill>
          <a:ln w="10160">
            <a:solidFill>
              <a:srgbClr val="2344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17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FILLED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87552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Alpaca order status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87552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69E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MLEG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87552" y="32278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order class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87552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4E0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$0.89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87552" y="4325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limit price</a:t>
            </a:r>
            <a:endParaRPr lang="en-US" sz="800" dirty="0"/>
          </a:p>
        </p:txBody>
      </p:sp>
      <p:pic>
        <p:nvPicPr>
          <p:cNvPr id="13" name="Image 0" descr="/mnt/data/processed_evidence/08_alpaca_filled_order_crop.png">    </p:cNvPr>
          <p:cNvPicPr>
            <a:picLocks noChangeAspect="1"/>
          </p:cNvPicPr>
          <p:nvPr/>
        </p:nvPicPr>
        <p:blipFill>
          <a:blip r:embed="rId1"/>
          <a:srcRect l="41918" r="41918" t="0" b="0"/>
          <a:stretch/>
        </p:blipFill>
        <p:spPr>
          <a:xfrm>
            <a:off x="4526280" y="1143000"/>
            <a:ext cx="3474720" cy="43891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75320" y="114300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22434"/>
          </a:solidFill>
          <a:ln w="10160">
            <a:solidFill>
              <a:srgbClr val="2344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13648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3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197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613648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tests passed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613648" y="2761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4E0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613648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regressions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13648" y="38770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A0B4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613648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known third-party warning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622792" y="50566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Final build sealed on main.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987552" y="4965192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02070B"/>
          </a:solidFill>
          <a:ln w="10160">
            <a:solidFill>
              <a:srgbClr val="B17C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8992" y="503834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17CFF"/>
                </a:solidFill>
              </a:rPr>
              <a:t>PROOF 5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810512" y="50383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4F8FB"/>
                </a:solidFill>
              </a:rPr>
              <a:t>Alpaca paper fill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A0B4C5"/>
                </a:solidFill>
              </a:rPr>
              <a:t>LOCKEAN LITE · ALPACA AI TRADING AGENTS HACKATHON</a:t>
            </a:r>
            <a:endParaRPr lang="en-US" sz="580" dirty="0"/>
          </a:p>
        </p:txBody>
      </p:sp>
      <p:sp>
        <p:nvSpPr>
          <p:cNvPr id="26" name="Text 23"/>
          <p:cNvSpPr/>
          <p:nvPr/>
        </p:nvSpPr>
        <p:spPr>
          <a:xfrm>
            <a:off x="7498080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9E1DC"/>
                </a:solidFill>
              </a:rPr>
              <a:t>Autonomous judgment. Independent authority.</a:t>
            </a:r>
            <a:endParaRPr lang="en-US" sz="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9E1DC">
              <a:alpha val="92000"/>
            </a:srgbClr>
          </a:solidFill>
          <a:ln w="12700">
            <a:solidFill>
              <a:srgbClr val="69E1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Lockean Lite is not about making AI less autonomous.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69E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prevents autonomous AI from becoming its own authority.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05840" y="3858768"/>
            <a:ext cx="10195560" cy="1078992"/>
          </a:xfrm>
          <a:prstGeom prst="roundRect">
            <a:avLst>
              <a:gd name="adj" fmla="val 6780"/>
            </a:avLst>
          </a:prstGeom>
          <a:solidFill>
            <a:srgbClr val="02070B"/>
          </a:solidFill>
          <a:ln w="12700">
            <a:solidFill>
              <a:srgbClr val="69E1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4251960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8FB"/>
                </a:solidFill>
              </a:rPr>
              <a:t>Autonomous judgment can be powerful. Permission must remain independent.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880360" y="5824728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A8FF"/>
                </a:solidFill>
              </a:rPr>
              <a:t>Built for the Alpaca AI Trading Agents Hackathon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Lockean Lite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Lockean Lite Final Pitch Deck</dc:title>
  <dc:subject>Alpaca AI Trading Agents Hackathon</dc:subject>
  <dc:creator>Lockean Lite</dc:creator>
  <cp:lastModifiedBy>Lockean Lite</cp:lastModifiedBy>
  <cp:revision>1</cp:revision>
  <dcterms:created xsi:type="dcterms:W3CDTF">2026-09-04T01:10:02Z</dcterms:created>
  <dcterms:modified xsi:type="dcterms:W3CDTF">2026-09-04T01:10:02Z</dcterms:modified>
</cp:coreProperties>
</file>