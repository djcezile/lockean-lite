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8"/>
          </a:solidFill>
          <a:ln w="12700">
            <a:solidFill>
              <a:srgbClr val="0710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51560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7FAFC"/>
                </a:solidFill>
              </a:rPr>
              <a:t>LOCKEAN LITE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58368" y="178308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0BFFF"/>
                </a:solidFill>
              </a:rPr>
              <a:t>Independent execution authority for autonomous AI trading agents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58368" y="2788920"/>
            <a:ext cx="6217920" cy="960120"/>
          </a:xfrm>
          <a:prstGeom prst="roundRect">
            <a:avLst>
              <a:gd name="adj" fmla="val 7619"/>
            </a:avLst>
          </a:prstGeom>
          <a:solidFill>
            <a:srgbClr val="0E1721"/>
          </a:solidFill>
          <a:ln w="17780">
            <a:solidFill>
              <a:srgbClr val="71F0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935224"/>
            <a:ext cx="588873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AFC"/>
                </a:solidFill>
              </a:rPr>
              <a:t>AI proposes. Lockean verifies. Authority decides. Only then may software act.</a:t>
            </a:r>
            <a:endParaRPr lang="en-US" sz="1500" dirty="0"/>
          </a:p>
        </p:txBody>
      </p:sp>
      <p:pic>
        <p:nvPicPr>
          <p:cNvPr id="7" name="Image 0" descr="/mnt/data/02_real_rejection_dashboard.png">    </p:cNvPr>
          <p:cNvPicPr>
            <a:picLocks noChangeAspect="1"/>
          </p:cNvPicPr>
          <p:nvPr/>
        </p:nvPicPr>
        <p:blipFill>
          <a:blip r:embed="rId1"/>
          <a:srcRect l="10730" r="10730" t="0" b="0"/>
          <a:stretch/>
        </p:blipFill>
        <p:spPr>
          <a:xfrm>
            <a:off x="7498080" y="1143000"/>
            <a:ext cx="4023360" cy="2880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56235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8B3C3"/>
                </a:solidFill>
              </a:rPr>
              <a:t>Alpaca AI Trading Agents Hackathon • Python • Alpaca • OpenAI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966960" y="64922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8B3C3"/>
                </a:solidFill>
              </a:rPr>
              <a:t>Lockean Lite • 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8"/>
          </a:solidFill>
          <a:ln w="12700">
            <a:solidFill>
              <a:srgbClr val="0710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risk: intelligence and authority collapse into one actor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024128"/>
            <a:ext cx="9326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BFFF"/>
                </a:solidFill>
              </a:rPr>
              <a:t>A capable AI should not automatically become an execution authority.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554480"/>
            <a:ext cx="2286000" cy="822960"/>
          </a:xfrm>
          <a:prstGeom prst="roundRect">
            <a:avLst>
              <a:gd name="adj" fmla="val 8889"/>
            </a:avLst>
          </a:prstGeom>
          <a:solidFill>
            <a:srgbClr val="0E1721"/>
          </a:solidFill>
          <a:ln w="17780">
            <a:solidFill>
              <a:srgbClr val="FF5F6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700784"/>
            <a:ext cx="1956816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AFC"/>
                </a:solidFill>
              </a:rPr>
              <a:t>AI hallucination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429000" y="155448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0E1721"/>
          </a:solidFill>
          <a:ln w="17780">
            <a:solidFill>
              <a:srgbClr val="FFD1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93592" y="1700784"/>
            <a:ext cx="2322576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AFC"/>
                </a:solidFill>
              </a:rPr>
              <a:t>Stale / missing evidence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92240" y="1554480"/>
            <a:ext cx="2514600" cy="822960"/>
          </a:xfrm>
          <a:prstGeom prst="roundRect">
            <a:avLst>
              <a:gd name="adj" fmla="val 8889"/>
            </a:avLst>
          </a:prstGeom>
          <a:solidFill>
            <a:srgbClr val="0E1721"/>
          </a:solidFill>
          <a:ln w="17780">
            <a:solidFill>
              <a:srgbClr val="FF5F6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56832" y="1700784"/>
            <a:ext cx="2185416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AFC"/>
                </a:solidFill>
              </a:rPr>
              <a:t>Altered trade proposal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783080" y="2578608"/>
            <a:ext cx="0" cy="731520"/>
          </a:xfrm>
          <a:prstGeom prst="line">
            <a:avLst/>
          </a:prstGeom>
          <a:noFill/>
          <a:ln w="25400">
            <a:solidFill>
              <a:srgbClr val="FF5F6D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754880" y="2578608"/>
            <a:ext cx="0" cy="731520"/>
          </a:xfrm>
          <a:prstGeom prst="line">
            <a:avLst/>
          </a:prstGeom>
          <a:noFill/>
          <a:ln w="25400">
            <a:solidFill>
              <a:srgbClr val="FFD166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726680" y="2578608"/>
            <a:ext cx="0" cy="731520"/>
          </a:xfrm>
          <a:prstGeom prst="line">
            <a:avLst/>
          </a:prstGeom>
          <a:noFill/>
          <a:ln w="25400">
            <a:solidFill>
              <a:srgbClr val="FF5F6D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057400" y="3520440"/>
            <a:ext cx="6217920" cy="1325880"/>
          </a:xfrm>
          <a:prstGeom prst="roundRect">
            <a:avLst>
              <a:gd name="adj" fmla="val 5517"/>
            </a:avLst>
          </a:prstGeom>
          <a:solidFill>
            <a:srgbClr val="111C27"/>
          </a:solidFill>
          <a:ln w="12700">
            <a:solidFill>
              <a:srgbClr val="2638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31720" y="3822192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7FAFC"/>
                </a:solidFill>
              </a:rPr>
              <a:t>Without a separate authority, bad intent can become a broker order.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68680" y="530352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0BFFF"/>
                </a:solidFill>
              </a:rPr>
              <a:t>•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24712" y="5303520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7FAFC"/>
                </a:solidFill>
              </a:rPr>
              <a:t>Not a UI problem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8680" y="5650992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0BFFF"/>
                </a:solidFill>
              </a:rPr>
              <a:t>•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24712" y="565099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7FAFC"/>
                </a:solidFill>
              </a:rPr>
              <a:t>Not solved by asking the AI to “be careful”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8680" y="5998464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0BFFF"/>
                </a:solidFill>
              </a:rPr>
              <a:t>•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24712" y="5998464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7FAFC"/>
                </a:solidFill>
              </a:rPr>
              <a:t>Requires an architectural boundary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966960" y="64922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8B3C3"/>
                </a:solidFill>
              </a:rPr>
              <a:t>Lockean Lite •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8"/>
          </a:solidFill>
          <a:ln w="12700">
            <a:solidFill>
              <a:srgbClr val="0710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Lockean separates recommendation from permission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024128"/>
            <a:ext cx="9326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BFFF"/>
                </a:solidFill>
              </a:rPr>
              <a:t>The AI cannot authorize itself and cannot reach the broker directly.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94360" y="1965960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0E1721"/>
          </a:solidFill>
          <a:ln w="17780">
            <a:solidFill>
              <a:srgbClr val="80B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2112264"/>
            <a:ext cx="108813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AFC"/>
                </a:solidFill>
              </a:rPr>
              <a:t>Real market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7FAFC"/>
                </a:solidFill>
              </a:rPr>
              <a:t>evidence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423160" y="1965960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0E1721"/>
          </a:solidFill>
          <a:ln w="17780">
            <a:solidFill>
              <a:srgbClr val="80B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87752" y="2112264"/>
            <a:ext cx="108813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AFC"/>
                </a:solidFill>
              </a:rPr>
              <a:t>AI structured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7FAFC"/>
                </a:solidFill>
              </a:rPr>
              <a:t>recommendation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26280" y="1965960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0E1721"/>
          </a:solidFill>
          <a:ln w="17780">
            <a:solidFill>
              <a:srgbClr val="71F0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90872" y="2112264"/>
            <a:ext cx="108813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AFC"/>
                </a:solidFill>
              </a:rPr>
              <a:t>Lockean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7FAFC"/>
                </a:solidFill>
              </a:rPr>
              <a:t>Authority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629400" y="1965960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0E1721"/>
          </a:solidFill>
          <a:ln w="17780">
            <a:solidFill>
              <a:srgbClr val="71F0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93992" y="2112264"/>
            <a:ext cx="108813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AFC"/>
                </a:solidFill>
              </a:rPr>
              <a:t>Execution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7FAFC"/>
                </a:solidFill>
              </a:rPr>
              <a:t>Gateway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869680" y="1965960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0E1721"/>
          </a:solidFill>
          <a:ln w="17780">
            <a:solidFill>
              <a:srgbClr val="FFD1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34272" y="2112264"/>
            <a:ext cx="108813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AFC"/>
                </a:solidFill>
              </a:rPr>
              <a:t>Alpaca paper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7FAFC"/>
                </a:solidFill>
              </a:rPr>
              <a:t>order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075688" y="2450592"/>
            <a:ext cx="256032" cy="0"/>
          </a:xfrm>
          <a:prstGeom prst="line">
            <a:avLst/>
          </a:prstGeom>
          <a:noFill/>
          <a:ln w="25400">
            <a:solidFill>
              <a:srgbClr val="A8B3C3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904488" y="2450592"/>
            <a:ext cx="530352" cy="0"/>
          </a:xfrm>
          <a:prstGeom prst="line">
            <a:avLst/>
          </a:prstGeom>
          <a:noFill/>
          <a:ln w="25400">
            <a:solidFill>
              <a:srgbClr val="A8B3C3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007608" y="2450592"/>
            <a:ext cx="530352" cy="0"/>
          </a:xfrm>
          <a:prstGeom prst="line">
            <a:avLst/>
          </a:prstGeom>
          <a:noFill/>
          <a:ln w="25400">
            <a:solidFill>
              <a:srgbClr val="A8B3C3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110728" y="2450592"/>
            <a:ext cx="667512" cy="0"/>
          </a:xfrm>
          <a:prstGeom prst="line">
            <a:avLst/>
          </a:prstGeom>
          <a:noFill/>
          <a:ln w="25400">
            <a:solidFill>
              <a:srgbClr val="A8B3C3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234440" y="3886200"/>
            <a:ext cx="9326880" cy="960120"/>
          </a:xfrm>
          <a:prstGeom prst="roundRect">
            <a:avLst>
              <a:gd name="adj" fmla="val 7619"/>
            </a:avLst>
          </a:prstGeom>
          <a:solidFill>
            <a:srgbClr val="0E1721"/>
          </a:solidFill>
          <a:ln w="12700">
            <a:solidFill>
              <a:srgbClr val="2638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00200" y="416052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7FAFC"/>
                </a:solidFill>
              </a:rPr>
              <a:t>Authorization is cryptographic, short-lived, and bound to the exact proposal fingerprint.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417320" y="5349240"/>
            <a:ext cx="1143000" cy="411480"/>
          </a:xfrm>
          <a:prstGeom prst="roundRect">
            <a:avLst>
              <a:gd name="adj" fmla="val 17778"/>
            </a:avLst>
          </a:prstGeom>
          <a:solidFill>
            <a:srgbClr val="0E1721"/>
          </a:solidFill>
          <a:ln w="13970">
            <a:solidFill>
              <a:srgbClr val="FF5F6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08760" y="5458968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AFC"/>
                </a:solidFill>
              </a:rPr>
              <a:t>Missing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88920" y="5349240"/>
            <a:ext cx="1143000" cy="411480"/>
          </a:xfrm>
          <a:prstGeom prst="roundRect">
            <a:avLst>
              <a:gd name="adj" fmla="val 17778"/>
            </a:avLst>
          </a:prstGeom>
          <a:solidFill>
            <a:srgbClr val="0E1721"/>
          </a:solidFill>
          <a:ln w="13970">
            <a:solidFill>
              <a:srgbClr val="FF5F6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80360" y="5458968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AFC"/>
                </a:solidFill>
              </a:rPr>
              <a:t>Forged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160520" y="5349240"/>
            <a:ext cx="1143000" cy="411480"/>
          </a:xfrm>
          <a:prstGeom prst="roundRect">
            <a:avLst>
              <a:gd name="adj" fmla="val 17778"/>
            </a:avLst>
          </a:prstGeom>
          <a:solidFill>
            <a:srgbClr val="0E1721"/>
          </a:solidFill>
          <a:ln w="13970">
            <a:solidFill>
              <a:srgbClr val="FF5F6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51960" y="5458968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AFC"/>
                </a:solidFill>
              </a:rPr>
              <a:t>Expired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532120" y="5349240"/>
            <a:ext cx="1325880" cy="411480"/>
          </a:xfrm>
          <a:prstGeom prst="roundRect">
            <a:avLst>
              <a:gd name="adj" fmla="val 17778"/>
            </a:avLst>
          </a:prstGeom>
          <a:solidFill>
            <a:srgbClr val="0E1721"/>
          </a:solidFill>
          <a:ln w="13970">
            <a:solidFill>
              <a:srgbClr val="FF5F6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23560" y="5458968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AFC"/>
                </a:solidFill>
              </a:rPr>
              <a:t>Tampered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178040" y="5349240"/>
            <a:ext cx="1508760" cy="411480"/>
          </a:xfrm>
          <a:prstGeom prst="roundRect">
            <a:avLst>
              <a:gd name="adj" fmla="val 17778"/>
            </a:avLst>
          </a:prstGeom>
          <a:solidFill>
            <a:srgbClr val="0E1721"/>
          </a:solidFill>
          <a:ln w="13970">
            <a:solidFill>
              <a:srgbClr val="71F0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69480" y="545896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AFC"/>
                </a:solidFill>
              </a:rPr>
              <a:t>Fails closed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966960" y="64922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8B3C3"/>
                </a:solidFill>
              </a:rPr>
              <a:t>Lockean Lite • 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8"/>
          </a:solidFill>
          <a:ln w="12700">
            <a:solidFill>
              <a:srgbClr val="0710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Proof 1: real market evidence can stop the chain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024128"/>
            <a:ext cx="9326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BFFF"/>
                </a:solidFill>
              </a:rPr>
              <a:t>August 31 completed session: externally sourced rejection.</a:t>
            </a:r>
            <a:endParaRPr lang="en-US" sz="1100" dirty="0"/>
          </a:p>
        </p:txBody>
      </p:sp>
      <p:pic>
        <p:nvPicPr>
          <p:cNvPr id="5" name="Image 0" descr="/mnt/data/01_real_rejection_term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102752"/>
            <a:ext cx="6446520" cy="251533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06640" y="1554480"/>
            <a:ext cx="3749040" cy="960120"/>
          </a:xfrm>
          <a:prstGeom prst="roundRect">
            <a:avLst>
              <a:gd name="adj" fmla="val 7619"/>
            </a:avLst>
          </a:prstGeom>
          <a:solidFill>
            <a:srgbClr val="0E1721"/>
          </a:solidFill>
          <a:ln w="17780">
            <a:solidFill>
              <a:srgbClr val="FF5F6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571232" y="1700784"/>
            <a:ext cx="341985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AFC"/>
                </a:solidFill>
              </a:rPr>
              <a:t>DECISION: REJECTED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7FAFC"/>
                </a:solidFill>
              </a:rPr>
              <a:t>REASON: breakout_filter_failed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498080" y="288036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0BFFF"/>
                </a:solidFill>
              </a:rPr>
              <a:t>•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54112" y="2880360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7FAFC"/>
                </a:solidFill>
              </a:rPr>
              <a:t>SPY evidence: Alpaca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498080" y="3273552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0BFFF"/>
                </a:solidFill>
              </a:rPr>
              <a:t>•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754112" y="327355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7FAFC"/>
                </a:solidFill>
              </a:rPr>
              <a:t>VIX evidence: official Cboe history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498080" y="3666744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0BFFF"/>
                </a:solidFill>
              </a:rPr>
              <a:t>•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754112" y="3666744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7FAFC"/>
                </a:solidFill>
              </a:rPr>
              <a:t>AI recommendation: NOT REACHED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498080" y="4059936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0BFFF"/>
                </a:solidFill>
              </a:rPr>
              <a:t>•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754112" y="4059936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7FAFC"/>
                </a:solidFill>
              </a:rPr>
              <a:t>Authority: NOT REACHED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498080" y="445312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0BFFF"/>
                </a:solidFill>
              </a:rPr>
              <a:t>•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754112" y="4453128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7FAFC"/>
                </a:solidFill>
              </a:rPr>
              <a:t>Broker order: NO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9966960" y="64922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8B3C3"/>
                </a:solidFill>
              </a:rPr>
              <a:t>Lockean Lite • 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8"/>
          </a:solidFill>
          <a:ln w="12700">
            <a:solidFill>
              <a:srgbClr val="0710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judge-facing dashboard is intentionally read-only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024128"/>
            <a:ext cx="9326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BFFF"/>
                </a:solidFill>
              </a:rPr>
              <a:t>Lockean decides. The interface displays.</a:t>
            </a:r>
            <a:endParaRPr lang="en-US" sz="1100" dirty="0"/>
          </a:p>
        </p:txBody>
      </p:sp>
      <p:pic>
        <p:nvPicPr>
          <p:cNvPr id="5" name="Image 0" descr="/mnt/data/02_real_rejection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33614"/>
            <a:ext cx="7680960" cy="431878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641080" y="1508760"/>
            <a:ext cx="2606040" cy="594360"/>
          </a:xfrm>
          <a:prstGeom prst="roundRect">
            <a:avLst>
              <a:gd name="adj" fmla="val 12308"/>
            </a:avLst>
          </a:prstGeom>
          <a:solidFill>
            <a:srgbClr val="0E1721"/>
          </a:solidFill>
          <a:ln w="17780">
            <a:solidFill>
              <a:srgbClr val="FF5F6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805672" y="1655064"/>
            <a:ext cx="2276856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AFC"/>
                </a:solidFill>
              </a:rPr>
              <a:t>No submit_order path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641080" y="2423160"/>
            <a:ext cx="2606040" cy="594360"/>
          </a:xfrm>
          <a:prstGeom prst="roundRect">
            <a:avLst>
              <a:gd name="adj" fmla="val 12308"/>
            </a:avLst>
          </a:prstGeom>
          <a:solidFill>
            <a:srgbClr val="0E1721"/>
          </a:solidFill>
          <a:ln w="17780">
            <a:solidFill>
              <a:srgbClr val="FF5F6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805672" y="2569464"/>
            <a:ext cx="2276856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AFC"/>
                </a:solidFill>
              </a:rPr>
              <a:t>No receipt issuance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641080" y="3337560"/>
            <a:ext cx="2606040" cy="594360"/>
          </a:xfrm>
          <a:prstGeom prst="roundRect">
            <a:avLst>
              <a:gd name="adj" fmla="val 12308"/>
            </a:avLst>
          </a:prstGeom>
          <a:solidFill>
            <a:srgbClr val="0E1721"/>
          </a:solidFill>
          <a:ln w="17780">
            <a:solidFill>
              <a:srgbClr val="FF5F6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05672" y="3483864"/>
            <a:ext cx="2276856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AFC"/>
                </a:solidFill>
              </a:rPr>
              <a:t>No execution gateway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8641080" y="4526280"/>
            <a:ext cx="2606040" cy="685800"/>
          </a:xfrm>
          <a:prstGeom prst="roundRect">
            <a:avLst>
              <a:gd name="adj" fmla="val 10667"/>
            </a:avLst>
          </a:prstGeom>
          <a:solidFill>
            <a:srgbClr val="0E1721"/>
          </a:solidFill>
          <a:ln w="17780">
            <a:solidFill>
              <a:srgbClr val="71F09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05672" y="4672584"/>
            <a:ext cx="227685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AFC"/>
                </a:solidFill>
              </a:rPr>
              <a:t>Displays immutable result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9966960" y="64922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8B3C3"/>
                </a:solidFill>
              </a:rPr>
              <a:t>Lockean Lite • 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8"/>
          </a:solidFill>
          <a:ln w="12700">
            <a:solidFill>
              <a:srgbClr val="0710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Proof 2: the AI does not own risk compliance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024128"/>
            <a:ext cx="9326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BFFF"/>
                </a:solidFill>
              </a:rPr>
              <a:t>Real Alpaca option candidates + real OpenAI structured recommendation.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554480"/>
            <a:ext cx="4663440" cy="1920240"/>
          </a:xfrm>
          <a:prstGeom prst="roundRect">
            <a:avLst>
              <a:gd name="adj" fmla="val 3810"/>
            </a:avLst>
          </a:prstGeom>
          <a:solidFill>
            <a:srgbClr val="111C27"/>
          </a:solidFill>
          <a:ln w="12700">
            <a:solidFill>
              <a:srgbClr val="2638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828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80BFFF"/>
                </a:solidFill>
              </a:rPr>
              <a:t>AI recommended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21488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7FAFC"/>
                </a:solidFill>
              </a:rPr>
              <a:t>BUY 775C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7FAFC"/>
                </a:solidFill>
              </a:rPr>
              <a:t>SELL 780C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7FAFC"/>
                </a:solidFill>
              </a:rPr>
              <a:t>1 contract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623560" y="2514600"/>
            <a:ext cx="868680" cy="0"/>
          </a:xfrm>
          <a:prstGeom prst="line">
            <a:avLst/>
          </a:prstGeom>
          <a:noFill/>
          <a:ln w="25400">
            <a:solidFill>
              <a:srgbClr val="A8B3C3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720840" y="1417320"/>
            <a:ext cx="4389120" cy="2240280"/>
          </a:xfrm>
          <a:prstGeom prst="roundRect">
            <a:avLst>
              <a:gd name="adj" fmla="val 3265"/>
            </a:avLst>
          </a:prstGeom>
          <a:solidFill>
            <a:srgbClr val="0E1721"/>
          </a:solidFill>
          <a:ln w="12700">
            <a:solidFill>
              <a:srgbClr val="2638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22592" y="1737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80BFFF"/>
                </a:solidFill>
              </a:rPr>
              <a:t>Lockean independently derived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022592" y="2057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7FAFC"/>
                </a:solidFill>
              </a:rPr>
              <a:t>Net debit: $2.13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022592" y="2514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5F6D"/>
                </a:solidFill>
              </a:rPr>
              <a:t>Maximum loss: $213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022592" y="29718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71F09A"/>
                </a:solidFill>
              </a:rPr>
              <a:t>Policy limit: $150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874520" y="4709160"/>
            <a:ext cx="7955280" cy="868680"/>
          </a:xfrm>
          <a:prstGeom prst="roundRect">
            <a:avLst>
              <a:gd name="adj" fmla="val 8421"/>
            </a:avLst>
          </a:prstGeom>
          <a:solidFill>
            <a:srgbClr val="0E1721"/>
          </a:solidFill>
          <a:ln w="17780">
            <a:solidFill>
              <a:srgbClr val="80B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39112" y="4855464"/>
            <a:ext cx="7626096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AFC"/>
                </a:solidFill>
              </a:rPr>
              <a:t>The AI could recommend the trade. It could not declare itself compliant.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966960" y="64922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8B3C3"/>
                </a:solidFill>
              </a:rPr>
              <a:t>Lockean Lite • 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8"/>
          </a:solidFill>
          <a:ln w="12700">
            <a:solidFill>
              <a:srgbClr val="0710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Permission must be earned every time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024128"/>
            <a:ext cx="9326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BFFF"/>
                </a:solidFill>
              </a:rPr>
              <a:t>Successful execution still goes through the same authority chain.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1508760" cy="685800"/>
          </a:xfrm>
          <a:prstGeom prst="roundRect">
            <a:avLst>
              <a:gd name="adj" fmla="val 10667"/>
            </a:avLst>
          </a:prstGeom>
          <a:solidFill>
            <a:srgbClr val="0E1721"/>
          </a:solidFill>
          <a:ln w="17780">
            <a:solidFill>
              <a:srgbClr val="80B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1472184"/>
            <a:ext cx="117957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AFC"/>
                </a:solidFill>
              </a:rPr>
              <a:t>Qualifying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7FAFC"/>
                </a:solidFill>
              </a:rPr>
              <a:t>evidence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938528" y="1673352"/>
            <a:ext cx="301752" cy="777240"/>
          </a:xfrm>
          <a:prstGeom prst="line">
            <a:avLst/>
          </a:prstGeom>
          <a:noFill/>
          <a:ln w="25400">
            <a:solidFill>
              <a:srgbClr val="A8B3C3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313432" y="2103120"/>
            <a:ext cx="1508760" cy="685800"/>
          </a:xfrm>
          <a:prstGeom prst="roundRect">
            <a:avLst>
              <a:gd name="adj" fmla="val 10667"/>
            </a:avLst>
          </a:prstGeom>
          <a:solidFill>
            <a:srgbClr val="0E1721"/>
          </a:solidFill>
          <a:ln w="17780">
            <a:solidFill>
              <a:srgbClr val="80B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78024" y="2249424"/>
            <a:ext cx="117957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AFC"/>
                </a:solidFill>
              </a:rPr>
              <a:t>AI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7FAFC"/>
                </a:solidFill>
              </a:rPr>
              <a:t>proposal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840480" y="2450592"/>
            <a:ext cx="301752" cy="-777240"/>
          </a:xfrm>
          <a:prstGeom prst="line">
            <a:avLst/>
          </a:prstGeom>
          <a:noFill/>
          <a:ln w="25400">
            <a:solidFill>
              <a:srgbClr val="A8B3C3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215384" y="1325880"/>
            <a:ext cx="1508760" cy="685800"/>
          </a:xfrm>
          <a:prstGeom prst="roundRect">
            <a:avLst>
              <a:gd name="adj" fmla="val 10667"/>
            </a:avLst>
          </a:prstGeom>
          <a:solidFill>
            <a:srgbClr val="0E1721"/>
          </a:solidFill>
          <a:ln w="17780">
            <a:solidFill>
              <a:srgbClr val="80B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79976" y="1472184"/>
            <a:ext cx="117957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AFC"/>
                </a:solidFill>
              </a:rPr>
              <a:t>Risk + account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7FAFC"/>
                </a:solidFill>
              </a:rPr>
              <a:t>verification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742432" y="1673352"/>
            <a:ext cx="301752" cy="777240"/>
          </a:xfrm>
          <a:prstGeom prst="line">
            <a:avLst/>
          </a:prstGeom>
          <a:noFill/>
          <a:ln w="25400">
            <a:solidFill>
              <a:srgbClr val="A8B3C3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117336" y="2103120"/>
            <a:ext cx="1508760" cy="685800"/>
          </a:xfrm>
          <a:prstGeom prst="roundRect">
            <a:avLst>
              <a:gd name="adj" fmla="val 10667"/>
            </a:avLst>
          </a:prstGeom>
          <a:solidFill>
            <a:srgbClr val="0E1721"/>
          </a:solidFill>
          <a:ln w="17780">
            <a:solidFill>
              <a:srgbClr val="71F0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81928" y="2249424"/>
            <a:ext cx="117957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AFC"/>
                </a:solidFill>
              </a:rPr>
              <a:t>Signed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7FAFC"/>
                </a:solidFill>
              </a:rPr>
              <a:t>receipt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644384" y="2450592"/>
            <a:ext cx="301752" cy="-777240"/>
          </a:xfrm>
          <a:prstGeom prst="line">
            <a:avLst/>
          </a:prstGeom>
          <a:noFill/>
          <a:ln w="25400">
            <a:solidFill>
              <a:srgbClr val="A8B3C3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019288" y="1325880"/>
            <a:ext cx="1508760" cy="685800"/>
          </a:xfrm>
          <a:prstGeom prst="roundRect">
            <a:avLst>
              <a:gd name="adj" fmla="val 10667"/>
            </a:avLst>
          </a:prstGeom>
          <a:solidFill>
            <a:srgbClr val="0E1721"/>
          </a:solidFill>
          <a:ln w="17780">
            <a:solidFill>
              <a:srgbClr val="71F0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83880" y="1472184"/>
            <a:ext cx="117957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AFC"/>
                </a:solidFill>
              </a:rPr>
              <a:t>Gateway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7FAFC"/>
                </a:solidFill>
              </a:rPr>
              <a:t>verification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9546336" y="1673352"/>
            <a:ext cx="301752" cy="777240"/>
          </a:xfrm>
          <a:prstGeom prst="line">
            <a:avLst/>
          </a:prstGeom>
          <a:noFill/>
          <a:ln w="25400">
            <a:solidFill>
              <a:srgbClr val="A8B3C3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921240" y="2103120"/>
            <a:ext cx="1508760" cy="685800"/>
          </a:xfrm>
          <a:prstGeom prst="roundRect">
            <a:avLst>
              <a:gd name="adj" fmla="val 10667"/>
            </a:avLst>
          </a:prstGeom>
          <a:solidFill>
            <a:srgbClr val="0E1721"/>
          </a:solidFill>
          <a:ln w="17780">
            <a:solidFill>
              <a:srgbClr val="71F0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85832" y="2249424"/>
            <a:ext cx="117957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AFC"/>
                </a:solidFill>
              </a:rPr>
              <a:t>Alpaca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7FAFC"/>
                </a:solidFill>
              </a:rPr>
              <a:t>order ID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60120" y="4023360"/>
            <a:ext cx="9875520" cy="1143000"/>
          </a:xfrm>
          <a:prstGeom prst="roundRect">
            <a:avLst>
              <a:gd name="adj" fmla="val 6400"/>
            </a:avLst>
          </a:prstGeom>
          <a:solidFill>
            <a:srgbClr val="0E1721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80160" y="4370832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7FAFC"/>
                </a:solidFill>
              </a:rPr>
              <a:t>Current successful execution slot remains open until a real session legitimately qualifies.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307592" y="4864608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8B3C3"/>
                </a:solidFill>
              </a:rPr>
              <a:t>No mocked order. No policy relaxation. No demo-only bypass.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966960" y="64922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8B3C3"/>
                </a:solidFill>
              </a:rPr>
              <a:t>Lockean Lite • 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8"/>
          </a:solidFill>
          <a:ln w="12700">
            <a:solidFill>
              <a:srgbClr val="0710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Submission-ready evidence package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024128"/>
            <a:ext cx="9326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BFFF"/>
                </a:solidFill>
              </a:rPr>
              <a:t>Repository, tests, and public proof are prepared for judges.</a:t>
            </a:r>
            <a:endParaRPr lang="en-US" sz="1100" dirty="0"/>
          </a:p>
        </p:txBody>
      </p:sp>
      <p:pic>
        <p:nvPicPr>
          <p:cNvPr id="5" name="Image 0" descr="/mnt/data/03_clean_checkout_tes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988510"/>
            <a:ext cx="5303520" cy="205801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46520" y="1463040"/>
            <a:ext cx="4343400" cy="1143000"/>
          </a:xfrm>
          <a:prstGeom prst="roundRect">
            <a:avLst>
              <a:gd name="adj" fmla="val 6400"/>
            </a:avLst>
          </a:prstGeom>
          <a:solidFill>
            <a:srgbClr val="0E1721"/>
          </a:solidFill>
          <a:ln w="17780">
            <a:solidFill>
              <a:srgbClr val="71F09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611112" y="1609344"/>
            <a:ext cx="4014216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AFC"/>
                </a:solidFill>
              </a:rPr>
              <a:t>163 tests passed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7FAFC"/>
                </a:solidFill>
              </a:rPr>
              <a:t>0 regressions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7FAFC"/>
                </a:solidFill>
              </a:rPr>
              <a:t>Fresh checkout verified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583680" y="297180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80BFFF"/>
                </a:solidFill>
              </a:rPr>
              <a:t>•</a:t>
            </a:r>
            <a:endParaRPr lang="en-US" sz="1320" dirty="0"/>
          </a:p>
        </p:txBody>
      </p:sp>
      <p:sp>
        <p:nvSpPr>
          <p:cNvPr id="9" name="Text 6"/>
          <p:cNvSpPr/>
          <p:nvPr/>
        </p:nvSpPr>
        <p:spPr>
          <a:xfrm>
            <a:off x="6839712" y="297180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F7FAFC"/>
                </a:solidFill>
              </a:rPr>
              <a:t>Public GitHub repository</a:t>
            </a:r>
            <a:endParaRPr lang="en-US" sz="1320" dirty="0"/>
          </a:p>
        </p:txBody>
      </p:sp>
      <p:sp>
        <p:nvSpPr>
          <p:cNvPr id="10" name="Text 7"/>
          <p:cNvSpPr/>
          <p:nvPr/>
        </p:nvSpPr>
        <p:spPr>
          <a:xfrm>
            <a:off x="6583680" y="335584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80BFFF"/>
                </a:solidFill>
              </a:rPr>
              <a:t>•</a:t>
            </a:r>
            <a:endParaRPr lang="en-US" sz="1320" dirty="0"/>
          </a:p>
        </p:txBody>
      </p:sp>
      <p:sp>
        <p:nvSpPr>
          <p:cNvPr id="11" name="Text 8"/>
          <p:cNvSpPr/>
          <p:nvPr/>
        </p:nvSpPr>
        <p:spPr>
          <a:xfrm>
            <a:off x="6839712" y="335584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F7FAFC"/>
                </a:solidFill>
              </a:rPr>
              <a:t>Read-only online prototype</a:t>
            </a:r>
            <a:endParaRPr lang="en-US" sz="1320" dirty="0"/>
          </a:p>
        </p:txBody>
      </p:sp>
      <p:sp>
        <p:nvSpPr>
          <p:cNvPr id="12" name="Text 9"/>
          <p:cNvSpPr/>
          <p:nvPr/>
        </p:nvSpPr>
        <p:spPr>
          <a:xfrm>
            <a:off x="6583680" y="3739896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80BFFF"/>
                </a:solidFill>
              </a:rPr>
              <a:t>•</a:t>
            </a:r>
            <a:endParaRPr lang="en-US" sz="1320" dirty="0"/>
          </a:p>
        </p:txBody>
      </p:sp>
      <p:sp>
        <p:nvSpPr>
          <p:cNvPr id="13" name="Text 10"/>
          <p:cNvSpPr/>
          <p:nvPr/>
        </p:nvSpPr>
        <p:spPr>
          <a:xfrm>
            <a:off x="6839712" y="3739896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F7FAFC"/>
                </a:solidFill>
              </a:rPr>
              <a:t>Judge evidence screenshots</a:t>
            </a:r>
            <a:endParaRPr lang="en-US" sz="1320" dirty="0"/>
          </a:p>
        </p:txBody>
      </p:sp>
      <p:sp>
        <p:nvSpPr>
          <p:cNvPr id="14" name="Text 11"/>
          <p:cNvSpPr/>
          <p:nvPr/>
        </p:nvSpPr>
        <p:spPr>
          <a:xfrm>
            <a:off x="6583680" y="4123944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80BFFF"/>
                </a:solidFill>
              </a:rPr>
              <a:t>•</a:t>
            </a:r>
            <a:endParaRPr lang="en-US" sz="1320" dirty="0"/>
          </a:p>
        </p:txBody>
      </p:sp>
      <p:sp>
        <p:nvSpPr>
          <p:cNvPr id="15" name="Text 12"/>
          <p:cNvSpPr/>
          <p:nvPr/>
        </p:nvSpPr>
        <p:spPr>
          <a:xfrm>
            <a:off x="6839712" y="412394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F7FAFC"/>
                </a:solidFill>
              </a:rPr>
              <a:t>Demo script and final submission copy</a:t>
            </a:r>
            <a:endParaRPr lang="en-US" sz="1320" dirty="0"/>
          </a:p>
        </p:txBody>
      </p:sp>
      <p:sp>
        <p:nvSpPr>
          <p:cNvPr id="16" name="Text 13"/>
          <p:cNvSpPr/>
          <p:nvPr/>
        </p:nvSpPr>
        <p:spPr>
          <a:xfrm>
            <a:off x="6583680" y="4507992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80BFFF"/>
                </a:solidFill>
              </a:rPr>
              <a:t>•</a:t>
            </a:r>
            <a:endParaRPr lang="en-US" sz="1320" dirty="0"/>
          </a:p>
        </p:txBody>
      </p:sp>
      <p:sp>
        <p:nvSpPr>
          <p:cNvPr id="17" name="Text 14"/>
          <p:cNvSpPr/>
          <p:nvPr/>
        </p:nvSpPr>
        <p:spPr>
          <a:xfrm>
            <a:off x="6839712" y="450799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F7FAFC"/>
                </a:solidFill>
              </a:rPr>
              <a:t>Execution proof slot reserved for genuine Alpaca order</a:t>
            </a:r>
            <a:endParaRPr lang="en-US" sz="1320" dirty="0"/>
          </a:p>
        </p:txBody>
      </p:sp>
      <p:sp>
        <p:nvSpPr>
          <p:cNvPr id="18" name="Shape 15"/>
          <p:cNvSpPr/>
          <p:nvPr/>
        </p:nvSpPr>
        <p:spPr>
          <a:xfrm>
            <a:off x="1143000" y="5715000"/>
            <a:ext cx="9875520" cy="548640"/>
          </a:xfrm>
          <a:prstGeom prst="roundRect">
            <a:avLst>
              <a:gd name="adj" fmla="val 13333"/>
            </a:avLst>
          </a:prstGeom>
          <a:solidFill>
            <a:srgbClr val="0E1721"/>
          </a:solidFill>
          <a:ln w="17780">
            <a:solidFill>
              <a:srgbClr val="80B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307592" y="5861304"/>
            <a:ext cx="9546336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AFC"/>
                </a:solidFill>
              </a:rPr>
              <a:t>Intelligence may recommend the action. Authority must still be earned.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9966960" y="64922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8B3C3"/>
                </a:solidFill>
              </a:rPr>
              <a:t>Lockean Lite • 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Lockean Lite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Lockean Lite Pitch Deck</dc:title>
  <dc:subject>Independent execution authority for autonomous AI trading agents</dc:subject>
  <dc:creator>Lockean Lite</dc:creator>
  <cp:lastModifiedBy>Lockean Lite</cp:lastModifiedBy>
  <cp:revision>1</cp:revision>
  <dcterms:created xsi:type="dcterms:W3CDTF">2026-09-02T03:12:13Z</dcterms:created>
  <dcterms:modified xsi:type="dcterms:W3CDTF">2026-09-02T03:12:13Z</dcterms:modified>
</cp:coreProperties>
</file>